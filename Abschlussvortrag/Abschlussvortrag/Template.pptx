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21.jpeg" ContentType="image/jpeg"/>
  <Override PartName="/ppt/media/image19.png" ContentType="image/png"/>
  <Override PartName="/ppt/media/image18.png" ContentType="image/png"/>
  <Override PartName="/ppt/media/image17.jpeg" ContentType="image/jpeg"/>
  <Override PartName="/ppt/media/image15.jpeg" ContentType="image/jpeg"/>
  <Override PartName="/ppt/media/image20.png" ContentType="image/png"/>
  <Override PartName="/ppt/media/image14.jpeg" ContentType="image/jpeg"/>
  <Override PartName="/ppt/media/image12.png" ContentType="image/png"/>
  <Override PartName="/ppt/media/image11.png" ContentType="image/png"/>
  <Override PartName="/ppt/media/image4.png" ContentType="image/png"/>
  <Override PartName="/ppt/media/image3.wmf" ContentType="image/x-wmf"/>
  <Override PartName="/ppt/media/image2.wmf" ContentType="image/x-wmf"/>
  <Override PartName="/ppt/media/image1.png" ContentType="image/png"/>
  <Override PartName="/ppt/media/image16.jpeg" ContentType="image/jpeg"/>
  <Override PartName="/ppt/media/image5.png" ContentType="image/png"/>
  <Override PartName="/ppt/media/image6.png" ContentType="image/png"/>
  <Override PartName="/ppt/media/image7.png" ContentType="image/png"/>
  <Override PartName="/ppt/media/image8.wmf" ContentType="image/x-wmf"/>
  <Override PartName="/ppt/media/image13.jpeg" ContentType="image/jpeg"/>
  <Override PartName="/ppt/media/image10.png" ContentType="image/png"/>
  <Override PartName="/ppt/media/image9.wmf" ContentType="image/x-wmf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41" name="" descr=""/>
          <p:cNvPicPr/>
          <p:nvPr/>
        </p:nvPicPr>
        <p:blipFill>
          <a:blip r:embed="rId3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1" name="" descr="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82" name="" descr=""/>
          <p:cNvPicPr/>
          <p:nvPr/>
        </p:nvPicPr>
        <p:blipFill>
          <a:blip r:embed="rId3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wmf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Relationship Id="rId9" Type="http://schemas.openxmlformats.org/officeDocument/2006/relationships/slideLayout" Target="../slideLayouts/slideLayout4.xml"/><Relationship Id="rId10" Type="http://schemas.openxmlformats.org/officeDocument/2006/relationships/slideLayout" Target="../slideLayouts/slideLayout5.xml"/><Relationship Id="rId11" Type="http://schemas.openxmlformats.org/officeDocument/2006/relationships/slideLayout" Target="../slideLayouts/slideLayout6.xml"/><Relationship Id="rId12" Type="http://schemas.openxmlformats.org/officeDocument/2006/relationships/slideLayout" Target="../slideLayouts/slideLayout7.xml"/><Relationship Id="rId13" Type="http://schemas.openxmlformats.org/officeDocument/2006/relationships/slideLayout" Target="../slideLayouts/slideLayout8.xml"/><Relationship Id="rId14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7.png"/><Relationship Id="rId3" Type="http://schemas.openxmlformats.org/officeDocument/2006/relationships/image" Target="../media/image8.wmf"/><Relationship Id="rId4" Type="http://schemas.openxmlformats.org/officeDocument/2006/relationships/image" Target="../media/image9.wmf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32" descr=""/>
          <p:cNvPicPr/>
          <p:nvPr/>
        </p:nvPicPr>
        <p:blipFill>
          <a:blip r:embed="rId2"/>
          <a:stretch/>
        </p:blipFill>
        <p:spPr>
          <a:xfrm>
            <a:off x="0" y="0"/>
            <a:ext cx="9137880" cy="6861240"/>
          </a:xfrm>
          <a:prstGeom prst="rect">
            <a:avLst/>
          </a:prstGeom>
          <a:ln w="9360">
            <a:noFill/>
          </a:ln>
        </p:spPr>
      </p:pic>
      <p:pic>
        <p:nvPicPr>
          <p:cNvPr id="1" name="Grafik 9" descr=""/>
          <p:cNvPicPr/>
          <p:nvPr/>
        </p:nvPicPr>
        <p:blipFill>
          <a:blip r:embed="rId3"/>
          <a:stretch/>
        </p:blipFill>
        <p:spPr>
          <a:xfrm>
            <a:off x="6215040" y="498600"/>
            <a:ext cx="1779840" cy="478080"/>
          </a:xfrm>
          <a:prstGeom prst="rect">
            <a:avLst/>
          </a:prstGeom>
          <a:ln w="9360">
            <a:noFill/>
          </a:ln>
        </p:spPr>
      </p:pic>
      <p:pic>
        <p:nvPicPr>
          <p:cNvPr id="2" name="Grafik 10" descr=""/>
          <p:cNvPicPr/>
          <p:nvPr/>
        </p:nvPicPr>
        <p:blipFill>
          <a:blip r:embed="rId4"/>
          <a:stretch/>
        </p:blipFill>
        <p:spPr>
          <a:xfrm>
            <a:off x="7643880" y="214200"/>
            <a:ext cx="331920" cy="493920"/>
          </a:xfrm>
          <a:prstGeom prst="rect">
            <a:avLst/>
          </a:prstGeom>
          <a:ln w="9360">
            <a:noFill/>
          </a:ln>
        </p:spPr>
      </p:pic>
      <p:sp>
        <p:nvSpPr>
          <p:cNvPr id="3" name="CustomShape 1" hidden="1"/>
          <p:cNvSpPr/>
          <p:nvPr/>
        </p:nvSpPr>
        <p:spPr>
          <a:xfrm>
            <a:off x="0" y="1197000"/>
            <a:ext cx="9137880" cy="528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CustomShape 2" hidden="1"/>
          <p:cNvSpPr/>
          <p:nvPr/>
        </p:nvSpPr>
        <p:spPr>
          <a:xfrm>
            <a:off x="0" y="1197000"/>
            <a:ext cx="9137880" cy="5250240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" name="Picture 70" descr=""/>
          <p:cNvPicPr/>
          <p:nvPr/>
        </p:nvPicPr>
        <p:blipFill>
          <a:blip r:embed="rId5"/>
          <a:stretch/>
        </p:blipFill>
        <p:spPr>
          <a:xfrm>
            <a:off x="0" y="0"/>
            <a:ext cx="9137880" cy="6863040"/>
          </a:xfrm>
          <a:prstGeom prst="rect">
            <a:avLst/>
          </a:prstGeom>
          <a:ln w="9360">
            <a:noFill/>
          </a:ln>
        </p:spPr>
      </p:pic>
      <p:sp>
        <p:nvSpPr>
          <p:cNvPr id="6" name="PlaceHolder 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32" descr=""/>
          <p:cNvPicPr/>
          <p:nvPr/>
        </p:nvPicPr>
        <p:blipFill>
          <a:blip r:embed="rId2"/>
          <a:stretch/>
        </p:blipFill>
        <p:spPr>
          <a:xfrm>
            <a:off x="0" y="0"/>
            <a:ext cx="9137880" cy="6861240"/>
          </a:xfrm>
          <a:prstGeom prst="rect">
            <a:avLst/>
          </a:prstGeom>
          <a:ln w="9360">
            <a:noFill/>
          </a:ln>
        </p:spPr>
      </p:pic>
      <p:pic>
        <p:nvPicPr>
          <p:cNvPr id="43" name="Grafik 9" descr=""/>
          <p:cNvPicPr/>
          <p:nvPr/>
        </p:nvPicPr>
        <p:blipFill>
          <a:blip r:embed="rId3"/>
          <a:stretch/>
        </p:blipFill>
        <p:spPr>
          <a:xfrm>
            <a:off x="6215040" y="498600"/>
            <a:ext cx="1779840" cy="478080"/>
          </a:xfrm>
          <a:prstGeom prst="rect">
            <a:avLst/>
          </a:prstGeom>
          <a:ln w="9360">
            <a:noFill/>
          </a:ln>
        </p:spPr>
      </p:pic>
      <p:pic>
        <p:nvPicPr>
          <p:cNvPr id="44" name="Grafik 10" descr=""/>
          <p:cNvPicPr/>
          <p:nvPr/>
        </p:nvPicPr>
        <p:blipFill>
          <a:blip r:embed="rId4"/>
          <a:stretch/>
        </p:blipFill>
        <p:spPr>
          <a:xfrm>
            <a:off x="7643880" y="214200"/>
            <a:ext cx="331920" cy="493920"/>
          </a:xfrm>
          <a:prstGeom prst="rect">
            <a:avLst/>
          </a:prstGeom>
          <a:ln w="9360">
            <a:noFill/>
          </a:ln>
        </p:spPr>
      </p:pic>
      <p:sp>
        <p:nvSpPr>
          <p:cNvPr id="45" name="CustomShape 1"/>
          <p:cNvSpPr/>
          <p:nvPr/>
        </p:nvSpPr>
        <p:spPr>
          <a:xfrm>
            <a:off x="0" y="1197000"/>
            <a:ext cx="9137880" cy="5286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CustomShape 2"/>
          <p:cNvSpPr/>
          <p:nvPr/>
        </p:nvSpPr>
        <p:spPr>
          <a:xfrm>
            <a:off x="0" y="1197000"/>
            <a:ext cx="9137880" cy="5250240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</a:t>
            </a:r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title text </a:t>
            </a:r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jpeg"/><Relationship Id="rId3" Type="http://schemas.openxmlformats.org/officeDocument/2006/relationships/hyperlink" Target="https://www.wired.com/2009/08/virtualsurgery/" TargetMode="External"/><Relationship Id="rId4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hyperlink" Target="http://www.digitaleng.news/de/polygonal-mesh-library-for-postprocessing-3d-scan-data/" TargetMode="External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hyperlink" Target="http://http.developer.nvidia.com/GPUGems2/gpugems2_chapter37.html" TargetMode="External"/><Relationship Id="rId3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www.wired.com/2009/08/virtualsurgery/" TargetMode="External"/><Relationship Id="rId2" Type="http://schemas.openxmlformats.org/officeDocument/2006/relationships/hyperlink" Target="http://www.digitaleng.news/de/polygonal-mesh-library-for-postprocessing-3d-scan-data/" TargetMode="External"/><Relationship Id="rId3" Type="http://schemas.openxmlformats.org/officeDocument/2006/relationships/hyperlink" Target="http://cgtools.net/data_generation_meshes.html" TargetMode="External"/><Relationship Id="rId4" Type="http://schemas.openxmlformats.org/officeDocument/2006/relationships/hyperlink" Target="http://http.developer.nvidia.com/GPUGems2/gpugems2_chapter37.html" TargetMode="External"/><Relationship Id="rId5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1143000" y="4386240"/>
            <a:ext cx="7366320" cy="19576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Antrittsvortrag zur Masterarbeit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Vortragender: Richard Metzler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Aufgabensteller: Prof. Dr. Dieter Kranzlmüller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Betreuer: Markus Wiedemann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Datum des Vortrags: 07.06.2017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1143000" y="2625840"/>
            <a:ext cx="7095240" cy="15256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CustomShape 3"/>
          <p:cNvSpPr/>
          <p:nvPr/>
        </p:nvSpPr>
        <p:spPr>
          <a:xfrm>
            <a:off x="1115640" y="1736640"/>
            <a:ext cx="7374600" cy="127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Difference Analysis between Computer Generated and in VR User Selected Mesh Saliency Maps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2071800" y="620640"/>
            <a:ext cx="3935520" cy="45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CustomShape 2"/>
          <p:cNvSpPr/>
          <p:nvPr/>
        </p:nvSpPr>
        <p:spPr>
          <a:xfrm>
            <a:off x="8245440" y="6459480"/>
            <a:ext cx="78444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CustomShape 3"/>
          <p:cNvSpPr/>
          <p:nvPr/>
        </p:nvSpPr>
        <p:spPr>
          <a:xfrm>
            <a:off x="380880" y="6459480"/>
            <a:ext cx="720828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Antrittsvortrag Richard Metzler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9" name="CustomShape 4"/>
          <p:cNvSpPr/>
          <p:nvPr/>
        </p:nvSpPr>
        <p:spPr>
          <a:xfrm>
            <a:off x="365760" y="3566160"/>
            <a:ext cx="8274960" cy="2102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Hintergrund: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Automatische Vereinfachung von 3D Objekten für Echtzeit-Darstellung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Erhaltung wahrgenommener Qualität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0" name="CustomShape 5"/>
          <p:cNvSpPr/>
          <p:nvPr/>
        </p:nvSpPr>
        <p:spPr>
          <a:xfrm>
            <a:off x="2071800" y="620640"/>
            <a:ext cx="3935520" cy="45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CustomShape 6"/>
          <p:cNvSpPr/>
          <p:nvPr/>
        </p:nvSpPr>
        <p:spPr>
          <a:xfrm>
            <a:off x="2103120" y="620640"/>
            <a:ext cx="3904200" cy="381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1" lang="en-US" sz="2000" spc="-1" strike="noStrike">
                <a:solidFill>
                  <a:srgbClr val="666666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Überblick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2" name="CustomShape 7"/>
          <p:cNvSpPr/>
          <p:nvPr/>
        </p:nvSpPr>
        <p:spPr>
          <a:xfrm>
            <a:off x="365760" y="1920240"/>
            <a:ext cx="8274960" cy="146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Ziel der Arbeit: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Vergleich zwischen automatisch errechneten und durch Nutzer ausgewählte visuell wichtige Stellen von 3D Objekten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Ermittlung möglicher Einflüsse durch Virtual Reality auf die Nutzer-Auswahl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3" name="CustomShape 8"/>
          <p:cNvSpPr/>
          <p:nvPr/>
        </p:nvSpPr>
        <p:spPr>
          <a:xfrm>
            <a:off x="8046720" y="6459480"/>
            <a:ext cx="98316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r"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1/12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2071800" y="620640"/>
            <a:ext cx="3935520" cy="45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CustomShape 2"/>
          <p:cNvSpPr/>
          <p:nvPr/>
        </p:nvSpPr>
        <p:spPr>
          <a:xfrm>
            <a:off x="91440" y="1737360"/>
            <a:ext cx="8795520" cy="91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Zunehmende Relevanz von Virtual Reality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Steigender Qualitätsanspruch an Echtzeit-Darstellung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8245440" y="6459480"/>
            <a:ext cx="78444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CustomShape 4"/>
          <p:cNvSpPr/>
          <p:nvPr/>
        </p:nvSpPr>
        <p:spPr>
          <a:xfrm>
            <a:off x="380880" y="6459480"/>
            <a:ext cx="772668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Antrittsvortrag Richard Metzler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91800" y="3193560"/>
            <a:ext cx="4934160" cy="2383200"/>
          </a:xfrm>
          <a:prstGeom prst="rect">
            <a:avLst/>
          </a:prstGeom>
          <a:ln>
            <a:noFill/>
          </a:ln>
        </p:spPr>
      </p:pic>
      <p:sp>
        <p:nvSpPr>
          <p:cNvPr id="99" name="CustomShape 5"/>
          <p:cNvSpPr/>
          <p:nvPr/>
        </p:nvSpPr>
        <p:spPr>
          <a:xfrm>
            <a:off x="91440" y="5579640"/>
            <a:ext cx="4936680" cy="45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0" lang="en-US" sz="1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Sampaio et al.: The application of virtual reality technology in the construction of bridge: The cantilever and incaremental launching methods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0" name="CustomShape 6"/>
          <p:cNvSpPr/>
          <p:nvPr/>
        </p:nvSpPr>
        <p:spPr>
          <a:xfrm>
            <a:off x="2103120" y="620640"/>
            <a:ext cx="3904200" cy="381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1" lang="en-US" sz="2000" spc="-1" strike="noStrike">
                <a:solidFill>
                  <a:srgbClr val="666666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Motivation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5120640" y="3108960"/>
            <a:ext cx="3756240" cy="2516760"/>
          </a:xfrm>
          <a:prstGeom prst="rect">
            <a:avLst/>
          </a:prstGeom>
          <a:ln>
            <a:noFill/>
          </a:ln>
        </p:spPr>
      </p:pic>
      <p:sp>
        <p:nvSpPr>
          <p:cNvPr id="102" name="CustomShape 7"/>
          <p:cNvSpPr/>
          <p:nvPr/>
        </p:nvSpPr>
        <p:spPr>
          <a:xfrm>
            <a:off x="5029200" y="5579640"/>
            <a:ext cx="3839400" cy="45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0" lang="en-US" sz="1000" spc="-1" strike="noStrike" u="sng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  <a:hlinkClick r:id="rId3"/>
              </a:rPr>
              <a:t>https://www.wired.com/2009/08/virtualsurgery/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- Aufgerufen am 06.07.2015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3" name="CustomShape 8"/>
          <p:cNvSpPr/>
          <p:nvPr/>
        </p:nvSpPr>
        <p:spPr>
          <a:xfrm>
            <a:off x="8046720" y="6459480"/>
            <a:ext cx="98316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r"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2/12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2071800" y="620640"/>
            <a:ext cx="3935520" cy="45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CustomShape 2"/>
          <p:cNvSpPr/>
          <p:nvPr/>
        </p:nvSpPr>
        <p:spPr>
          <a:xfrm>
            <a:off x="8245440" y="6459480"/>
            <a:ext cx="78444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CustomShape 3"/>
          <p:cNvSpPr/>
          <p:nvPr/>
        </p:nvSpPr>
        <p:spPr>
          <a:xfrm>
            <a:off x="380880" y="6459480"/>
            <a:ext cx="772668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Antrittsvortrag Richard Metzler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7" name="CustomShape 4"/>
          <p:cNvSpPr/>
          <p:nvPr/>
        </p:nvSpPr>
        <p:spPr>
          <a:xfrm>
            <a:off x="91440" y="1281240"/>
            <a:ext cx="7405920" cy="246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Mesh Saliency: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24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Beschreibt </a:t>
            </a: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Hervortreten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von Punkten auf einer Oberfläche im Raum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24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Maß der wahrgenommenen </a:t>
            </a: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Wichtigkeit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24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von Punkten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24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Basiert auf grundlegenden Eigenschaften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24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Menschlicher Wahrnehmung¹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8" name="CustomShape 5"/>
          <p:cNvSpPr/>
          <p:nvPr/>
        </p:nvSpPr>
        <p:spPr>
          <a:xfrm>
            <a:off x="2103120" y="620640"/>
            <a:ext cx="3904200" cy="381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1" lang="en-US" sz="2000" spc="-1" strike="noStrike">
                <a:solidFill>
                  <a:srgbClr val="666666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Motivation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9" name="CustomShape 6"/>
          <p:cNvSpPr/>
          <p:nvPr/>
        </p:nvSpPr>
        <p:spPr>
          <a:xfrm>
            <a:off x="91440" y="3931920"/>
            <a:ext cx="8685720" cy="23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216000" indent="-2124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Vergleich von Punkten mit </a:t>
            </a: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Umgebung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528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Entscheidende Maßeinheit: Krümmung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528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Skalierbar durch Radius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24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Relevant für </a:t>
            </a: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Reduktion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der </a:t>
            </a: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Komplexität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(Polygonzahl) im Kontext Echtzeit Darstellung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5761440" y="2012400"/>
            <a:ext cx="3134880" cy="2048400"/>
          </a:xfrm>
          <a:prstGeom prst="rect">
            <a:avLst/>
          </a:prstGeom>
          <a:ln>
            <a:noFill/>
          </a:ln>
        </p:spPr>
      </p:pic>
      <p:sp>
        <p:nvSpPr>
          <p:cNvPr id="111" name="CustomShape 7"/>
          <p:cNvSpPr/>
          <p:nvPr/>
        </p:nvSpPr>
        <p:spPr>
          <a:xfrm>
            <a:off x="5577840" y="4061880"/>
            <a:ext cx="3199320" cy="601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0" lang="en-US" sz="1000" spc="-1" strike="noStrike" u="sng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  <a:hlinkClick r:id="rId2"/>
              </a:rPr>
              <a:t>http://www.digitaleng.news/de/polygonal-mesh-library-for-postprocessing-3d-scan-data/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- Aufgerufen am 06.07.2015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2" name="CustomShape 8"/>
          <p:cNvSpPr/>
          <p:nvPr/>
        </p:nvSpPr>
        <p:spPr>
          <a:xfrm>
            <a:off x="91440" y="6035040"/>
            <a:ext cx="8777520" cy="42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0" lang="en-US" sz="1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¹Itti, Laurent, Christof Koch, and Ernst Niebur. "A model of saliency-based visual attention for rapid scene analysis." IEEE Transactions on pattern analysis and machine intelligence 20.11 (1998): 1254-1259.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3" name="CustomShape 9"/>
          <p:cNvSpPr/>
          <p:nvPr/>
        </p:nvSpPr>
        <p:spPr>
          <a:xfrm>
            <a:off x="8046720" y="6459480"/>
            <a:ext cx="98316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r"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3/12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2071800" y="620640"/>
            <a:ext cx="3935520" cy="45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CustomShape 2"/>
          <p:cNvSpPr/>
          <p:nvPr/>
        </p:nvSpPr>
        <p:spPr>
          <a:xfrm>
            <a:off x="8245440" y="6459480"/>
            <a:ext cx="78444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CustomShape 3"/>
          <p:cNvSpPr/>
          <p:nvPr/>
        </p:nvSpPr>
        <p:spPr>
          <a:xfrm>
            <a:off x="380880" y="6459480"/>
            <a:ext cx="772668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Antrittsvortrag Richard Metzler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7" name="CustomShape 4"/>
          <p:cNvSpPr/>
          <p:nvPr/>
        </p:nvSpPr>
        <p:spPr>
          <a:xfrm>
            <a:off x="2103120" y="620640"/>
            <a:ext cx="3904200" cy="381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1" lang="en-US" sz="2000" spc="-1" strike="noStrike">
                <a:solidFill>
                  <a:srgbClr val="666666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Motivation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3017520" y="1188720"/>
            <a:ext cx="3214080" cy="2268720"/>
          </a:xfrm>
          <a:prstGeom prst="rect">
            <a:avLst/>
          </a:prstGeom>
          <a:ln>
            <a:noFill/>
          </a:ln>
        </p:spPr>
      </p:pic>
      <p:pic>
        <p:nvPicPr>
          <p:cNvPr id="119" name="" descr=""/>
          <p:cNvPicPr/>
          <p:nvPr/>
        </p:nvPicPr>
        <p:blipFill>
          <a:blip r:embed="rId2"/>
          <a:stretch/>
        </p:blipFill>
        <p:spPr>
          <a:xfrm>
            <a:off x="182880" y="3502800"/>
            <a:ext cx="3488400" cy="2462400"/>
          </a:xfrm>
          <a:prstGeom prst="rect">
            <a:avLst/>
          </a:prstGeom>
          <a:ln>
            <a:noFill/>
          </a:ln>
        </p:spPr>
      </p:pic>
      <p:pic>
        <p:nvPicPr>
          <p:cNvPr id="120" name="" descr=""/>
          <p:cNvPicPr/>
          <p:nvPr/>
        </p:nvPicPr>
        <p:blipFill>
          <a:blip r:embed="rId3"/>
          <a:stretch/>
        </p:blipFill>
        <p:spPr>
          <a:xfrm>
            <a:off x="5486400" y="3513600"/>
            <a:ext cx="3473280" cy="2451600"/>
          </a:xfrm>
          <a:prstGeom prst="rect">
            <a:avLst/>
          </a:prstGeom>
          <a:ln>
            <a:noFill/>
          </a:ln>
        </p:spPr>
      </p:pic>
      <p:sp>
        <p:nvSpPr>
          <p:cNvPr id="121" name="CustomShape 5"/>
          <p:cNvSpPr/>
          <p:nvPr/>
        </p:nvSpPr>
        <p:spPr>
          <a:xfrm>
            <a:off x="182880" y="5966640"/>
            <a:ext cx="8500680" cy="37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Chang Ha Lee, Amitabh Varshney, and David W Jacobs. Mesh saliency. In </a:t>
            </a:r>
            <a:r>
              <a:rPr b="0" i="1" lang="en-US" sz="1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ACM transactions on graphics (TOG)</a:t>
            </a:r>
            <a:r>
              <a:rPr b="0" lang="en-US" sz="1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, volume 24, pages 659–666. ACM, 2005.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2" name="CustomShape 6"/>
          <p:cNvSpPr/>
          <p:nvPr/>
        </p:nvSpPr>
        <p:spPr>
          <a:xfrm>
            <a:off x="8046720" y="6459480"/>
            <a:ext cx="98316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r"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4/12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2071800" y="620640"/>
            <a:ext cx="3935520" cy="45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CustomShape 2"/>
          <p:cNvSpPr/>
          <p:nvPr/>
        </p:nvSpPr>
        <p:spPr>
          <a:xfrm>
            <a:off x="8245440" y="6459480"/>
            <a:ext cx="78444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CustomShape 3"/>
          <p:cNvSpPr/>
          <p:nvPr/>
        </p:nvSpPr>
        <p:spPr>
          <a:xfrm>
            <a:off x="380880" y="6459480"/>
            <a:ext cx="772668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Antrittsvortrag Richard Metzler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6" name="CustomShape 4"/>
          <p:cNvSpPr/>
          <p:nvPr/>
        </p:nvSpPr>
        <p:spPr>
          <a:xfrm>
            <a:off x="91440" y="1652760"/>
            <a:ext cx="8777520" cy="154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1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2-dimensionaler Raum: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182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Farbwert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und </a:t>
            </a: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Helligkeit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als wichtigste Eigenschaft für herausragende Elemente¹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182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0 Saliency: Fläche mit uniformer Farbintensität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7" name="CustomShape 5"/>
          <p:cNvSpPr/>
          <p:nvPr/>
        </p:nvSpPr>
        <p:spPr>
          <a:xfrm>
            <a:off x="2103120" y="365760"/>
            <a:ext cx="3904200" cy="63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1" lang="en-US" sz="2000" spc="-1" strike="noStrike">
                <a:solidFill>
                  <a:srgbClr val="666666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Stand der Technik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b="1" lang="en-US" sz="1600" spc="-1" strike="noStrike">
                <a:solidFill>
                  <a:srgbClr val="666666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Mesh Saliency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8" name="CustomShape 6"/>
          <p:cNvSpPr/>
          <p:nvPr/>
        </p:nvSpPr>
        <p:spPr>
          <a:xfrm>
            <a:off x="91440" y="3291840"/>
            <a:ext cx="8868600" cy="265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3-dimensionaler Raum: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182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Form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als wichtigste Eigenschaft für herausragende Elemente¹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182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0 Saliency: Kugel (kanonisches, “zero-saliency feature”)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9" name="CustomShape 7"/>
          <p:cNvSpPr/>
          <p:nvPr/>
        </p:nvSpPr>
        <p:spPr>
          <a:xfrm>
            <a:off x="91440" y="6035040"/>
            <a:ext cx="8777520" cy="42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0" lang="en-US" sz="1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¹Itti, Laurent, Christof Koch, and Ernst Niebur. "A model of saliency-based visual attention for rapid scene analysis." IEEE Transactions on pattern analysis and machine intelligence 20.11 (1998): 1254-1259.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0" name="CustomShape 8"/>
          <p:cNvSpPr/>
          <p:nvPr/>
        </p:nvSpPr>
        <p:spPr>
          <a:xfrm>
            <a:off x="8046720" y="6459480"/>
            <a:ext cx="98316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r"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5/12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457560" y="1280160"/>
            <a:ext cx="8226000" cy="4683240"/>
          </a:xfrm>
          <a:prstGeom prst="rect">
            <a:avLst/>
          </a:prstGeom>
          <a:ln>
            <a:noFill/>
          </a:ln>
        </p:spPr>
      </p:pic>
      <p:sp>
        <p:nvSpPr>
          <p:cNvPr id="132" name="CustomShape 1"/>
          <p:cNvSpPr/>
          <p:nvPr/>
        </p:nvSpPr>
        <p:spPr>
          <a:xfrm>
            <a:off x="457560" y="5966640"/>
            <a:ext cx="8226000" cy="37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Chang Ha Lee, Amitabh Varshney, and David W Jacobs. Mesh saliency. In </a:t>
            </a:r>
            <a:r>
              <a:rPr b="0" i="1" lang="en-US" sz="1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ACM transactions on graphics (TOG)</a:t>
            </a:r>
            <a:r>
              <a:rPr b="0" lang="en-US" sz="1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, volume 24, pages 659–666. ACM, 2005.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2103120" y="365760"/>
            <a:ext cx="3904200" cy="63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1" lang="en-US" sz="2000" spc="-1" strike="noStrike">
                <a:solidFill>
                  <a:srgbClr val="666666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Stand der Technik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b="1" lang="en-US" sz="1600" spc="-1" strike="noStrike">
                <a:solidFill>
                  <a:srgbClr val="666666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Mesh Saliency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4" name="CustomShape 3"/>
          <p:cNvSpPr/>
          <p:nvPr/>
        </p:nvSpPr>
        <p:spPr>
          <a:xfrm>
            <a:off x="380880" y="6459480"/>
            <a:ext cx="772668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Antrittsvortrag Richard Metzler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5" name="CustomShape 4"/>
          <p:cNvSpPr/>
          <p:nvPr/>
        </p:nvSpPr>
        <p:spPr>
          <a:xfrm>
            <a:off x="8046720" y="6459480"/>
            <a:ext cx="98316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r"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6/12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2071800" y="620640"/>
            <a:ext cx="3935520" cy="45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CustomShape 2"/>
          <p:cNvSpPr/>
          <p:nvPr/>
        </p:nvSpPr>
        <p:spPr>
          <a:xfrm>
            <a:off x="91440" y="1554480"/>
            <a:ext cx="6030360" cy="63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Wu et al.: Mesh Saliency with global Rarity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8" name="CustomShape 3"/>
          <p:cNvSpPr/>
          <p:nvPr/>
        </p:nvSpPr>
        <p:spPr>
          <a:xfrm>
            <a:off x="8245440" y="6459480"/>
            <a:ext cx="78444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CustomShape 4"/>
          <p:cNvSpPr/>
          <p:nvPr/>
        </p:nvSpPr>
        <p:spPr>
          <a:xfrm>
            <a:off x="380880" y="6459480"/>
            <a:ext cx="772668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Antrittsvortrag Richard Metzler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0" name="CustomShape 5"/>
          <p:cNvSpPr/>
          <p:nvPr/>
        </p:nvSpPr>
        <p:spPr>
          <a:xfrm>
            <a:off x="91440" y="3840480"/>
            <a:ext cx="5756040" cy="191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Munaretti - Perceptual Guidance in Mesh Processing and Rendering using Mesh Saliency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5943600" y="1838160"/>
            <a:ext cx="3044160" cy="1540440"/>
          </a:xfrm>
          <a:prstGeom prst="rect">
            <a:avLst/>
          </a:prstGeom>
          <a:ln>
            <a:noFill/>
          </a:ln>
        </p:spPr>
      </p:pic>
      <p:pic>
        <p:nvPicPr>
          <p:cNvPr id="142" name="" descr=""/>
          <p:cNvPicPr/>
          <p:nvPr/>
        </p:nvPicPr>
        <p:blipFill>
          <a:blip r:embed="rId2"/>
          <a:stretch/>
        </p:blipFill>
        <p:spPr>
          <a:xfrm>
            <a:off x="6028560" y="4206240"/>
            <a:ext cx="2927880" cy="1458360"/>
          </a:xfrm>
          <a:prstGeom prst="rect">
            <a:avLst/>
          </a:prstGeom>
          <a:ln>
            <a:noFill/>
          </a:ln>
        </p:spPr>
      </p:pic>
      <p:sp>
        <p:nvSpPr>
          <p:cNvPr id="143" name="CustomShape 6"/>
          <p:cNvSpPr/>
          <p:nvPr/>
        </p:nvSpPr>
        <p:spPr>
          <a:xfrm>
            <a:off x="5852160" y="3291840"/>
            <a:ext cx="3195720" cy="60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Jinliang Wu, Xiaoyong Shen, Wei Zhu, and Ligang Liu. Mesh saliency with global rarity. </a:t>
            </a:r>
            <a:r>
              <a:rPr b="0" i="1" lang="en-US" sz="1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Graphical Models</a:t>
            </a:r>
            <a:r>
              <a:rPr b="0" lang="en-US" sz="1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, 75(5):255–264, 2013.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4" name="CustomShape 7"/>
          <p:cNvSpPr/>
          <p:nvPr/>
        </p:nvSpPr>
        <p:spPr>
          <a:xfrm>
            <a:off x="5852160" y="5669280"/>
            <a:ext cx="3195720" cy="54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Rodrigo Barni Munaretti. Perceptual guidance in mesh processing and rendering using mesh saliency. 2007.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5" name="CustomShape 8"/>
          <p:cNvSpPr/>
          <p:nvPr/>
        </p:nvSpPr>
        <p:spPr>
          <a:xfrm>
            <a:off x="182880" y="2286000"/>
            <a:ext cx="5482440" cy="146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216000" indent="-21204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Punkt-Saliency in Beziehung zur Geometrie des gesamten Objekts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204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Kombinierter finaler Saliency Wert aus </a:t>
            </a: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lokaler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und </a:t>
            </a: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globaler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Seltenheit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6" name="CustomShape 9"/>
          <p:cNvSpPr/>
          <p:nvPr/>
        </p:nvSpPr>
        <p:spPr>
          <a:xfrm>
            <a:off x="182880" y="4846320"/>
            <a:ext cx="5118120" cy="109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216000" indent="-21312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Geodätische Distanz statt Euklidscher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7" name="CustomShape 10"/>
          <p:cNvSpPr/>
          <p:nvPr/>
        </p:nvSpPr>
        <p:spPr>
          <a:xfrm>
            <a:off x="2103120" y="365760"/>
            <a:ext cx="3904200" cy="63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1" lang="en-US" sz="2000" spc="-1" strike="noStrike">
                <a:solidFill>
                  <a:srgbClr val="666666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Stand der Technik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b="1" lang="en-US" sz="1600" spc="-1" strike="noStrike">
                <a:solidFill>
                  <a:srgbClr val="666666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Mesh Saliency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8" name="CustomShape 11"/>
          <p:cNvSpPr/>
          <p:nvPr/>
        </p:nvSpPr>
        <p:spPr>
          <a:xfrm>
            <a:off x="8046720" y="6459480"/>
            <a:ext cx="98316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r"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7/12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stomShape 1"/>
          <p:cNvSpPr/>
          <p:nvPr/>
        </p:nvSpPr>
        <p:spPr>
          <a:xfrm>
            <a:off x="2071800" y="620640"/>
            <a:ext cx="3935520" cy="45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CustomShape 2"/>
          <p:cNvSpPr/>
          <p:nvPr/>
        </p:nvSpPr>
        <p:spPr>
          <a:xfrm>
            <a:off x="8245440" y="6459480"/>
            <a:ext cx="78444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CustomShape 3"/>
          <p:cNvSpPr/>
          <p:nvPr/>
        </p:nvSpPr>
        <p:spPr>
          <a:xfrm>
            <a:off x="380880" y="6459480"/>
            <a:ext cx="772668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Antrittsvortrag Richard Metzler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2" name="CustomShape 4"/>
          <p:cNvSpPr/>
          <p:nvPr/>
        </p:nvSpPr>
        <p:spPr>
          <a:xfrm>
            <a:off x="2103120" y="182880"/>
            <a:ext cx="3904200" cy="81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1" lang="en-US" sz="2000" spc="-1" strike="noStrike">
                <a:solidFill>
                  <a:srgbClr val="666666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Stand der Technik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b="1" lang="en-US" sz="1600" spc="-1" strike="noStrike">
                <a:solidFill>
                  <a:srgbClr val="666666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Wahrnehmung im virtuellen Raum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3" name="CustomShape 5"/>
          <p:cNvSpPr/>
          <p:nvPr/>
        </p:nvSpPr>
        <p:spPr>
          <a:xfrm>
            <a:off x="0" y="3657600"/>
            <a:ext cx="8960040" cy="109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432000" indent="-3182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Pausch et al.: Quantifying Immersion in Virtual Reality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Bei Such-Aufgaben: Nicht schneller aber </a:t>
            </a: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gründlicher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4" name="CustomShape 6"/>
          <p:cNvSpPr/>
          <p:nvPr/>
        </p:nvSpPr>
        <p:spPr>
          <a:xfrm>
            <a:off x="0" y="2194560"/>
            <a:ext cx="8960760" cy="34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CustomShape 7"/>
          <p:cNvSpPr/>
          <p:nvPr/>
        </p:nvSpPr>
        <p:spPr>
          <a:xfrm>
            <a:off x="0" y="2230560"/>
            <a:ext cx="9143640" cy="115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432000" indent="-3182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Santos et. al.: Head-mounted display versus desktop for 3D navigation in virtual reality: a user study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182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Navigation mit Head-Mounted Display (HMD) als </a:t>
            </a: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natürlicher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und </a:t>
            </a: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intuitiver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empfunden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6" name="CustomShape 8"/>
          <p:cNvSpPr/>
          <p:nvPr/>
        </p:nvSpPr>
        <p:spPr>
          <a:xfrm>
            <a:off x="457200" y="1566360"/>
            <a:ext cx="5664600" cy="63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Immersive Umgebung vs. Desktop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7" name="CustomShape 9"/>
          <p:cNvSpPr/>
          <p:nvPr/>
        </p:nvSpPr>
        <p:spPr>
          <a:xfrm>
            <a:off x="8046720" y="6459480"/>
            <a:ext cx="98316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r"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8/12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2071800" y="620640"/>
            <a:ext cx="3935520" cy="45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CustomShape 2"/>
          <p:cNvSpPr/>
          <p:nvPr/>
        </p:nvSpPr>
        <p:spPr>
          <a:xfrm>
            <a:off x="8245440" y="6459480"/>
            <a:ext cx="78444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CustomShape 3"/>
          <p:cNvSpPr/>
          <p:nvPr/>
        </p:nvSpPr>
        <p:spPr>
          <a:xfrm>
            <a:off x="380880" y="6459480"/>
            <a:ext cx="772668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Antrittsvortrag Richard Metzler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1" name="CustomShape 4"/>
          <p:cNvSpPr/>
          <p:nvPr/>
        </p:nvSpPr>
        <p:spPr>
          <a:xfrm>
            <a:off x="91440" y="1280160"/>
            <a:ext cx="8795520" cy="228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432000" indent="-31824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1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Entsprechen errechnete Saliency Maps der Auswahl von Nutzern in VR-Umgebung?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1824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1824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Nutzerstudie </a:t>
            </a: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auf Basis einer </a:t>
            </a: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Auswahl-Applikation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2" name="CustomShape 5"/>
          <p:cNvSpPr/>
          <p:nvPr/>
        </p:nvSpPr>
        <p:spPr>
          <a:xfrm>
            <a:off x="2103120" y="620640"/>
            <a:ext cx="3904200" cy="381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1" lang="en-US" sz="2000" spc="-1" strike="noStrike">
                <a:solidFill>
                  <a:srgbClr val="666666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Fragestellung &amp; Konzept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3" name="CustomShape 6"/>
          <p:cNvSpPr/>
          <p:nvPr/>
        </p:nvSpPr>
        <p:spPr>
          <a:xfrm>
            <a:off x="182880" y="3017520"/>
            <a:ext cx="5869440" cy="301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216000" indent="-21492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Anforderungen an Auswahl-Applikation: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Objekte </a:t>
            </a:r>
            <a:r>
              <a:rPr b="1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anzeigen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Objekte in räumlicher Speicherstruktur </a:t>
            </a:r>
            <a:r>
              <a:rPr b="1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unterteilen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5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Selektion</a:t>
            </a:r>
            <a:r>
              <a:rPr b="0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durch Nutzer per Controller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432000" indent="-2145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Abgleich</a:t>
            </a:r>
            <a:r>
              <a:rPr b="0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aufgezeichneter Nutzer-Auswahlen mit zuvor berechneten Saliency Maps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64" name="" descr=""/>
          <p:cNvPicPr/>
          <p:nvPr/>
        </p:nvPicPr>
        <p:blipFill>
          <a:blip r:embed="rId1"/>
          <a:stretch/>
        </p:blipFill>
        <p:spPr>
          <a:xfrm>
            <a:off x="6017400" y="2651760"/>
            <a:ext cx="2869560" cy="3107520"/>
          </a:xfrm>
          <a:prstGeom prst="rect">
            <a:avLst/>
          </a:prstGeom>
          <a:ln>
            <a:noFill/>
          </a:ln>
        </p:spPr>
      </p:pic>
      <p:sp>
        <p:nvSpPr>
          <p:cNvPr id="165" name="CustomShape 7"/>
          <p:cNvSpPr/>
          <p:nvPr/>
        </p:nvSpPr>
        <p:spPr>
          <a:xfrm>
            <a:off x="5688000" y="5760720"/>
            <a:ext cx="319572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000" spc="-1" strike="noStrike" u="sng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  <a:hlinkClick r:id="rId2"/>
              </a:rPr>
              <a:t>http://http.developer.nvidia.com/GPUGems2/gpugems2_chapter37.html</a:t>
            </a:r>
            <a:r>
              <a:rPr b="0" lang="en-US" sz="1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- Aufgerufen am 06.07.2015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6" name="CustomShape 8"/>
          <p:cNvSpPr/>
          <p:nvPr/>
        </p:nvSpPr>
        <p:spPr>
          <a:xfrm>
            <a:off x="8046720" y="6459480"/>
            <a:ext cx="98316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r"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9/12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CustomShape 1"/>
          <p:cNvSpPr/>
          <p:nvPr/>
        </p:nvSpPr>
        <p:spPr>
          <a:xfrm>
            <a:off x="2071800" y="620640"/>
            <a:ext cx="3935520" cy="45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CustomShape 2"/>
          <p:cNvSpPr/>
          <p:nvPr/>
        </p:nvSpPr>
        <p:spPr>
          <a:xfrm>
            <a:off x="8245440" y="6459480"/>
            <a:ext cx="78444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CustomShape 3"/>
          <p:cNvSpPr/>
          <p:nvPr/>
        </p:nvSpPr>
        <p:spPr>
          <a:xfrm>
            <a:off x="380880" y="6459480"/>
            <a:ext cx="772668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Antrittsvortrag Richard Metzler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0" name="CustomShape 4"/>
          <p:cNvSpPr/>
          <p:nvPr/>
        </p:nvSpPr>
        <p:spPr>
          <a:xfrm>
            <a:off x="365760" y="1554480"/>
            <a:ext cx="8274960" cy="173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Aufbau: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Anzeige verschiedener statischer Objekte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Nutzerselektion zweier Arten von Regionen: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648000" indent="-2113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Generell “wichtig” empfundene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648000" indent="-2113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Zur eindeutigen Erkennung des Objekts unbedingt notwendige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1" name="CustomShape 5"/>
          <p:cNvSpPr/>
          <p:nvPr/>
        </p:nvSpPr>
        <p:spPr>
          <a:xfrm>
            <a:off x="2071800" y="620640"/>
            <a:ext cx="3935520" cy="45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CustomShape 6"/>
          <p:cNvSpPr/>
          <p:nvPr/>
        </p:nvSpPr>
        <p:spPr>
          <a:xfrm>
            <a:off x="2103120" y="620640"/>
            <a:ext cx="3904200" cy="381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1" lang="en-US" sz="2000" spc="-1" strike="noStrike">
                <a:solidFill>
                  <a:srgbClr val="666666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Nutzerstudie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3" name="CustomShape 7"/>
          <p:cNvSpPr/>
          <p:nvPr/>
        </p:nvSpPr>
        <p:spPr>
          <a:xfrm>
            <a:off x="365760" y="4846320"/>
            <a:ext cx="7588440" cy="1437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Ziel: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Vergleich der Nutzerauswahlen mit errechneten Saliency Maps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4" name="CustomShape 8"/>
          <p:cNvSpPr/>
          <p:nvPr/>
        </p:nvSpPr>
        <p:spPr>
          <a:xfrm>
            <a:off x="365760" y="3291840"/>
            <a:ext cx="8502840" cy="155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Aspekte der Interaktion: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Auswahl-Radius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Darstellung der Objekte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Einarbeitungszeit und Bedienbarkeit der Applikation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5" name="CustomShape 9"/>
          <p:cNvSpPr/>
          <p:nvPr/>
        </p:nvSpPr>
        <p:spPr>
          <a:xfrm>
            <a:off x="8046720" y="6459480"/>
            <a:ext cx="98316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r"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10/12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1051200" y="5029200"/>
            <a:ext cx="7130880" cy="1095840"/>
          </a:xfrm>
          <a:prstGeom prst="rect">
            <a:avLst/>
          </a:prstGeom>
          <a:solidFill>
            <a:srgbClr val="0066ff">
              <a:alpha val="40000"/>
            </a:srgbClr>
          </a:solidFill>
          <a:ln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CustomShape 2"/>
          <p:cNvSpPr/>
          <p:nvPr/>
        </p:nvSpPr>
        <p:spPr>
          <a:xfrm>
            <a:off x="1051200" y="3931920"/>
            <a:ext cx="7130880" cy="1095840"/>
          </a:xfrm>
          <a:prstGeom prst="rect">
            <a:avLst/>
          </a:prstGeom>
          <a:solidFill>
            <a:srgbClr val="0066ff">
              <a:alpha val="70000"/>
            </a:srgbClr>
          </a:solidFill>
          <a:ln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CustomShape 3"/>
          <p:cNvSpPr/>
          <p:nvPr/>
        </p:nvSpPr>
        <p:spPr>
          <a:xfrm>
            <a:off x="1051200" y="1737360"/>
            <a:ext cx="7130880" cy="1095840"/>
          </a:xfrm>
          <a:prstGeom prst="rect">
            <a:avLst/>
          </a:prstGeom>
          <a:solidFill>
            <a:srgbClr val="0066ff">
              <a:alpha val="70000"/>
            </a:srgbClr>
          </a:solidFill>
          <a:ln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CustomShape 4"/>
          <p:cNvSpPr/>
          <p:nvPr/>
        </p:nvSpPr>
        <p:spPr>
          <a:xfrm>
            <a:off x="1051200" y="2834640"/>
            <a:ext cx="7130880" cy="1095840"/>
          </a:xfrm>
          <a:prstGeom prst="rect">
            <a:avLst/>
          </a:prstGeom>
          <a:solidFill>
            <a:srgbClr val="0066ff">
              <a:alpha val="40000"/>
            </a:srgbClr>
          </a:solidFill>
          <a:ln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CustomShape 5"/>
          <p:cNvSpPr/>
          <p:nvPr/>
        </p:nvSpPr>
        <p:spPr>
          <a:xfrm>
            <a:off x="2071800" y="620640"/>
            <a:ext cx="3935520" cy="45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CustomShape 6"/>
          <p:cNvSpPr/>
          <p:nvPr/>
        </p:nvSpPr>
        <p:spPr>
          <a:xfrm>
            <a:off x="8245440" y="6459480"/>
            <a:ext cx="78444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CustomShape 7"/>
          <p:cNvSpPr/>
          <p:nvPr/>
        </p:nvSpPr>
        <p:spPr>
          <a:xfrm>
            <a:off x="380880" y="6459480"/>
            <a:ext cx="772668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Antrittsvortrag Richard Metzler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3" name="CustomShape 8"/>
          <p:cNvSpPr/>
          <p:nvPr/>
        </p:nvSpPr>
        <p:spPr>
          <a:xfrm>
            <a:off x="914400" y="1648080"/>
            <a:ext cx="4156560" cy="4109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Literaturrecherche + Konzeption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Implementierung der Auswahl-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Applikation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Nutzerstudie konzipieren und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Durchführen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Nutzerstudie auswerten &amp;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dokumentieren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4" name="CustomShape 9"/>
          <p:cNvSpPr/>
          <p:nvPr/>
        </p:nvSpPr>
        <p:spPr>
          <a:xfrm>
            <a:off x="5625360" y="1648080"/>
            <a:ext cx="2008080" cy="4109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b="0" lang="en-US" sz="18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1 Monat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b="0" lang="en-US" sz="18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 Monate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b="0" lang="en-US" sz="18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2 Monate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b="0" lang="en-US" sz="18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1 Monat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5" name="CustomShape 10"/>
          <p:cNvSpPr/>
          <p:nvPr/>
        </p:nvSpPr>
        <p:spPr>
          <a:xfrm>
            <a:off x="2103120" y="620640"/>
            <a:ext cx="3904200" cy="381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1" lang="en-US" sz="2000" spc="-1" strike="noStrike">
                <a:solidFill>
                  <a:srgbClr val="666666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Aufgaben &amp; Zeitplan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6" name="CustomShape 11"/>
          <p:cNvSpPr/>
          <p:nvPr/>
        </p:nvSpPr>
        <p:spPr>
          <a:xfrm>
            <a:off x="8046720" y="6459480"/>
            <a:ext cx="98316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r"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11/12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ustomShape 1"/>
          <p:cNvSpPr/>
          <p:nvPr/>
        </p:nvSpPr>
        <p:spPr>
          <a:xfrm>
            <a:off x="2071800" y="620640"/>
            <a:ext cx="3935520" cy="45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CustomShape 2"/>
          <p:cNvSpPr/>
          <p:nvPr/>
        </p:nvSpPr>
        <p:spPr>
          <a:xfrm>
            <a:off x="8245440" y="6459480"/>
            <a:ext cx="78444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CustomShape 3"/>
          <p:cNvSpPr/>
          <p:nvPr/>
        </p:nvSpPr>
        <p:spPr>
          <a:xfrm>
            <a:off x="380880" y="6459480"/>
            <a:ext cx="772668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Antrittsvortrag Richard Metzler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0" name="CustomShape 4"/>
          <p:cNvSpPr/>
          <p:nvPr/>
        </p:nvSpPr>
        <p:spPr>
          <a:xfrm>
            <a:off x="365760" y="1554480"/>
            <a:ext cx="8274960" cy="474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Chang Ha Lee, Amitabh Varshney, and David W Jacobs. Mesh saliency. In </a:t>
            </a:r>
            <a:r>
              <a:rPr b="0" i="1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ACM transactions on graphics (TOG)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, volume 24, pages 659–666. ACM, 2005.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Jinliang Wu, Xiaoyong Shen, Wei Zhu, and Ligang Liu. Mesh saliency with global rarity. </a:t>
            </a:r>
            <a:r>
              <a:rPr b="0" i="1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Graphical Models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, 75(5):255–264, 2013.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27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De Ladurantaye, Vincent, Jacques Vanden-Abeele, and Jean Rouat. Models of information processing in the visual cortex. INTECH Open Access Publisher, 2012.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Rodrigo Barni Munaretti. Perceptual guidance in mesh processing and rendering using mesh saliency. 2007.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Paul Atchley and Arthur F Kramer. Attentional control within 3-d space.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28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Pausch, Randy, Dennis Proffitt, and George Williams. "Quantifying immersion in virtual reality." Proceedings of the 24th annual conference on Computer graphics and interactive techniques. ACM Press/Addison-Wesley Publishing Co., 1997.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Santos, Beatriz Sousa, et al. "Head-mounted display versus desktop for 3D navigation in virtual reality: a user study." Multimedia Tools and Applications 41.1 (2009): 161.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Sampaio, Alcínia Z., and Octávio P. Martins. "The application of virtual reality technology in the construction of bridge: The cantilever and incremental launching methods." Automation in construction 37 (2014): 58-67.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Gabriel Taubin. Estimating the tensor of curvature of a surface from a polyhedral approximation. </a:t>
            </a:r>
            <a:r>
              <a:rPr b="0" i="1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In Computer Vision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, 1995. </a:t>
            </a:r>
            <a:r>
              <a:rPr b="0" i="1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Proceedings., Fifth International Conference on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, pages 902–907. IEEE, 1995.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Carolina Cruz-Neira, Daniel J Sandin, and Thomas A DeFanti. Surroundscreen projection-based virtual reality: The design and implementation of the cave. 1993.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 u="sng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  <a:hlinkClick r:id="rId1"/>
              </a:rPr>
              <a:t>https://www.wired.com/2009/08/virtualsurgery/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- Aufgerufen am 06.05.2017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 u="sng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  <a:hlinkClick r:id="rId2"/>
              </a:rPr>
              <a:t>http://www.digitaleng.news/de/polygonal-mesh-library-for-postprocessing-3d-scan-data/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- Aufgerufen am 06.05.2017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 u="sng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  <a:hlinkClick r:id="rId3"/>
              </a:rPr>
              <a:t>http://cgtools.net/data_generation_meshes.html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- Aufgerufen am 13.05.2017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 u="sng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  <a:hlinkClick r:id="rId4"/>
              </a:rPr>
              <a:t>http://http.developer.nvidia.com/GPUGems2/gpugems2_chapter37.html</a:t>
            </a: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 - Aufgerufen am 06.05.2017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1" name="CustomShape 5"/>
          <p:cNvSpPr/>
          <p:nvPr/>
        </p:nvSpPr>
        <p:spPr>
          <a:xfrm>
            <a:off x="2103120" y="620640"/>
            <a:ext cx="3904200" cy="381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r>
              <a:rPr b="1" lang="en-US" sz="2000" spc="-1" strike="noStrike">
                <a:solidFill>
                  <a:srgbClr val="666666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Referenzen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2" name="CustomShape 6"/>
          <p:cNvSpPr/>
          <p:nvPr/>
        </p:nvSpPr>
        <p:spPr>
          <a:xfrm>
            <a:off x="8046720" y="6459480"/>
            <a:ext cx="983160" cy="2858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r">
              <a:lnSpc>
                <a:spcPct val="100000"/>
              </a:lnSpc>
            </a:pPr>
            <a:r>
              <a:rPr b="0" lang="en-US" sz="1400" spc="-1" strike="noStrike">
                <a:solidFill>
                  <a:srgbClr val="006c30"/>
                </a:solidFill>
                <a:uFill>
                  <a:solidFill>
                    <a:srgbClr val="ffffff"/>
                  </a:solidFill>
                </a:uFill>
                <a:latin typeface="LMU CompatilFact"/>
                <a:ea typeface="DejaVu Sans"/>
              </a:rPr>
              <a:t>12/12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1630</TotalTime>
  <Application>LibreOffice/5.1.6.2$Linux_X86_64 LibreOffice_project/10m0$Build-2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2003-07-21T12:00:07Z</dcterms:created>
  <dc:creator>schaaf</dc:creator>
  <dc:description/>
  <dc:language>en-US</dc:language>
  <cp:lastModifiedBy/>
  <cp:lastPrinted>2002-10-09T14:32:30Z</cp:lastPrinted>
  <dcterms:modified xsi:type="dcterms:W3CDTF">2017-06-07T12:26:59Z</dcterms:modified>
  <cp:revision>3527</cp:revision>
  <dc:subject/>
  <dc:title>Antrittsvortrag Master Arbeit Richard Metzler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Bildschirmpräsentation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2</vt:i4>
  </property>
</Properties>
</file>